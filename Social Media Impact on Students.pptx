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3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Social Media Impact on Students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4" y="4777379"/>
            <a:ext cx="8174580" cy="1126283"/>
          </a:xfrm>
        </p:spPr>
        <p:txBody>
          <a:bodyPr/>
          <a:lstStyle/>
          <a:p>
            <a:endParaRPr lang="en-US" b="1" dirty="0" smtClean="0"/>
          </a:p>
          <a:p>
            <a:r>
              <a:rPr lang="en-US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Exploring 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Social Media Usage, Academic Performance, Sleep, and Mental </a:t>
            </a:r>
            <a:r>
              <a:rPr lang="en-US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Health.</a:t>
            </a:r>
            <a:endParaRPr 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2242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Objective &amp; Research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Objective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Yu Gothic UI" panose="020B0500000000000000" pitchFamily="34" charset="-128"/>
                <a:cs typeface="Calibri" panose="020F0502020204030204" pitchFamily="34" charset="0"/>
              </a:rPr>
              <a:t>Understand social-media usage among students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Yu Gothic UI" panose="020B0500000000000000" pitchFamily="34" charset="-128"/>
                <a:cs typeface="Calibri" panose="020F0502020204030204" pitchFamily="34" charset="0"/>
              </a:rPr>
              <a:t>Examine its association with academic performance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Yu Gothic UI" panose="020B0500000000000000" pitchFamily="34" charset="-128"/>
                <a:cs typeface="Calibri" panose="020F0502020204030204" pitchFamily="34" charset="0"/>
              </a:rPr>
              <a:t>Analyze its relationship with sleep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Yu Gothic UI" panose="020B0500000000000000" pitchFamily="34" charset="-128"/>
                <a:cs typeface="Calibri" panose="020F0502020204030204" pitchFamily="34" charset="0"/>
              </a:rPr>
              <a:t>Analyze its relationship with mental health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Yu Gothic UI" panose="020B0500000000000000" pitchFamily="34" charset="-128"/>
                <a:cs typeface="Calibri" panose="020F0502020204030204" pitchFamily="34" charset="0"/>
              </a:rPr>
              <a:t>Understand overall </a:t>
            </a:r>
            <a:r>
              <a:rPr lang="en-US" sz="1600" dirty="0" smtClean="0">
                <a:latin typeface="Calibri" panose="020F0502020204030204" pitchFamily="34" charset="0"/>
                <a:ea typeface="Yu Gothic UI" panose="020B0500000000000000" pitchFamily="34" charset="-128"/>
                <a:cs typeface="Calibri" panose="020F0502020204030204" pitchFamily="34" charset="0"/>
              </a:rPr>
              <a:t>impact</a:t>
            </a:r>
          </a:p>
          <a:p>
            <a:r>
              <a:rPr lang="en-US" b="1" dirty="0"/>
              <a:t>Main Research Question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Yu Gothic UI" panose="020B0500000000000000" pitchFamily="34" charset="-128"/>
                <a:cs typeface="Calibri" panose="020F0502020204030204" pitchFamily="34" charset="0"/>
              </a:rPr>
              <a:t>How is social-media usage associated with academic performance, sleep, mental health, and overall impact among students?</a:t>
            </a: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4742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Dataset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1,705 rows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11 columns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Yu Gothic UI" panose="020B0500000000000000" pitchFamily="34" charset="-128"/>
                <a:cs typeface="Calibri" panose="020F0502020204030204" pitchFamily="34" charset="0"/>
              </a:rPr>
              <a:t>Student information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Yu Gothic UI" panose="020B0500000000000000" pitchFamily="34" charset="-128"/>
                <a:cs typeface="Calibri" panose="020F0502020204030204" pitchFamily="34" charset="0"/>
              </a:rPr>
              <a:t>Social-media usage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Yu Gothic UI" panose="020B0500000000000000" pitchFamily="34" charset="-128"/>
                <a:cs typeface="Calibri" panose="020F0502020204030204" pitchFamily="34" charset="0"/>
              </a:rPr>
              <a:t>Academic performance impact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Yu Gothic UI" panose="020B0500000000000000" pitchFamily="34" charset="-128"/>
                <a:cs typeface="Calibri" panose="020F0502020204030204" pitchFamily="34" charset="0"/>
              </a:rPr>
              <a:t>Sleep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Yu Gothic UI" panose="020B0500000000000000" pitchFamily="34" charset="-128"/>
                <a:cs typeface="Calibri" panose="020F0502020204030204" pitchFamily="34" charset="0"/>
              </a:rPr>
              <a:t>Mental health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Yu Gothic UI" panose="020B0500000000000000" pitchFamily="34" charset="-128"/>
                <a:cs typeface="Calibri" panose="020F0502020204030204" pitchFamily="34" charset="0"/>
              </a:rPr>
              <a:t>Overall impact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0764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Quality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Data Quality Check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Yu Gothic UI" panose="020B0500000000000000" pitchFamily="34" charset="-128"/>
                <a:cs typeface="Calibri" panose="020F0502020204030204" pitchFamily="34" charset="0"/>
              </a:rPr>
              <a:t>Missing values: </a:t>
            </a:r>
            <a:r>
              <a:rPr lang="en-US" sz="1600" b="1" dirty="0">
                <a:latin typeface="Calibri" panose="020F0502020204030204" pitchFamily="34" charset="0"/>
                <a:ea typeface="Yu Gothic UI" panose="020B0500000000000000" pitchFamily="34" charset="-128"/>
                <a:cs typeface="Calibri" panose="020F0502020204030204" pitchFamily="34" charset="0"/>
              </a:rPr>
              <a:t>0</a:t>
            </a:r>
            <a:r>
              <a:rPr lang="en-US" sz="1600" dirty="0">
                <a:latin typeface="Calibri" panose="020F0502020204030204" pitchFamily="34" charset="0"/>
                <a:ea typeface="Yu Gothic UI" panose="020B0500000000000000" pitchFamily="34" charset="-128"/>
                <a:cs typeface="Calibri" panose="020F0502020204030204" pitchFamily="34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Yu Gothic UI" panose="020B0500000000000000" pitchFamily="34" charset="-128"/>
                <a:cs typeface="Calibri" panose="020F0502020204030204" pitchFamily="34" charset="0"/>
              </a:rPr>
              <a:t>Exact duplicate rows: </a:t>
            </a:r>
            <a:r>
              <a:rPr lang="en-US" sz="1600" b="1" dirty="0">
                <a:latin typeface="Calibri" panose="020F0502020204030204" pitchFamily="34" charset="0"/>
                <a:ea typeface="Yu Gothic UI" panose="020B0500000000000000" pitchFamily="34" charset="-128"/>
                <a:cs typeface="Calibri" panose="020F0502020204030204" pitchFamily="34" charset="0"/>
              </a:rPr>
              <a:t>0</a:t>
            </a:r>
            <a:r>
              <a:rPr lang="en-US" sz="1600" dirty="0">
                <a:latin typeface="Calibri" panose="020F0502020204030204" pitchFamily="34" charset="0"/>
                <a:ea typeface="Yu Gothic UI" panose="020B0500000000000000" pitchFamily="34" charset="-128"/>
                <a:cs typeface="Calibri" panose="020F0502020204030204" pitchFamily="34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Yu Gothic UI" panose="020B0500000000000000" pitchFamily="34" charset="-128"/>
                <a:cs typeface="Calibri" panose="020F0502020204030204" pitchFamily="34" charset="0"/>
              </a:rPr>
              <a:t>Numerical and categorical variables identified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Yu Gothic UI" panose="020B0500000000000000" pitchFamily="34" charset="-128"/>
                <a:cs typeface="Calibri" panose="020F0502020204030204" pitchFamily="34" charset="0"/>
              </a:rPr>
              <a:t>Student IDs were checked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Yu Gothic UI" panose="020B0500000000000000" pitchFamily="34" charset="-128"/>
                <a:cs typeface="Calibri" panose="020F0502020204030204" pitchFamily="34" charset="0"/>
              </a:rPr>
              <a:t>No rows removed based only on repeated Student IDs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7380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130630"/>
            <a:ext cx="8911687" cy="613954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Univariate Analysis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18903" y="744584"/>
            <a:ext cx="4806951" cy="263756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7555" y="744584"/>
            <a:ext cx="5273630" cy="263756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3360" y="3382148"/>
            <a:ext cx="4821409" cy="3384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493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Bivariate Analysis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4450" y="2002971"/>
            <a:ext cx="5436216" cy="37782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7736" y="2002971"/>
            <a:ext cx="5585797" cy="3882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3196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Academic Performance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7523" y="1709057"/>
            <a:ext cx="7061185" cy="4430486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8545553"/>
              </p:ext>
            </p:extLst>
          </p:nvPr>
        </p:nvGraphicFramePr>
        <p:xfrm>
          <a:off x="7775182" y="2201993"/>
          <a:ext cx="4064022" cy="1965057"/>
        </p:xfrm>
        <a:graphic>
          <a:graphicData uri="http://schemas.openxmlformats.org/drawingml/2006/table">
            <a:tbl>
              <a:tblPr/>
              <a:tblGrid>
                <a:gridCol w="2095205">
                  <a:extLst>
                    <a:ext uri="{9D8B030D-6E8A-4147-A177-3AD203B41FA5}">
                      <a16:colId xmlns:a16="http://schemas.microsoft.com/office/drawing/2014/main" val="4236303657"/>
                    </a:ext>
                  </a:extLst>
                </a:gridCol>
                <a:gridCol w="1968817">
                  <a:extLst>
                    <a:ext uri="{9D8B030D-6E8A-4147-A177-3AD203B41FA5}">
                      <a16:colId xmlns:a16="http://schemas.microsoft.com/office/drawing/2014/main" val="2186171190"/>
                    </a:ext>
                  </a:extLst>
                </a:gridCol>
              </a:tblGrid>
              <a:tr h="917027">
                <a:tc>
                  <a:txBody>
                    <a:bodyPr/>
                    <a:lstStyle/>
                    <a:p>
                      <a:r>
                        <a:rPr lang="en-US" b="1" u="none" dirty="0"/>
                        <a:t>Academic Impact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1" u="none" dirty="0"/>
                        <a:t>Average</a:t>
                      </a:r>
                      <a:r>
                        <a:rPr lang="en-US" b="1" u="sng" dirty="0"/>
                        <a:t> </a:t>
                      </a:r>
                      <a:r>
                        <a:rPr lang="en-US" b="1" u="none" dirty="0"/>
                        <a:t>Usage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6385470"/>
                  </a:ext>
                </a:extLst>
              </a:tr>
              <a:tr h="524015">
                <a:tc>
                  <a:txBody>
                    <a:bodyPr/>
                    <a:lstStyle/>
                    <a:p>
                      <a:r>
                        <a:rPr lang="en-US" sz="1600" b="1" dirty="0"/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b="1" dirty="0"/>
                        <a:t>4.07 hours</a:t>
                      </a:r>
                      <a:endParaRPr lang="en-US" sz="16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8834221"/>
                  </a:ext>
                </a:extLst>
              </a:tr>
              <a:tr h="524015">
                <a:tc>
                  <a:txBody>
                    <a:bodyPr/>
                    <a:lstStyle/>
                    <a:p>
                      <a:r>
                        <a:rPr lang="en-US" sz="1600" b="1" dirty="0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b="1" dirty="0"/>
                        <a:t>5.81 hours</a:t>
                      </a:r>
                      <a:endParaRPr lang="en-US" sz="16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85706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2722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Correlation Analysis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53457" y="1623549"/>
            <a:ext cx="6103160" cy="5045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348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Usage Levels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b="1" dirty="0"/>
          </a:p>
          <a:p>
            <a:r>
              <a:rPr lang="en-US" b="1" dirty="0"/>
              <a:t>Low       0–3 hours</a:t>
            </a:r>
          </a:p>
          <a:p>
            <a:r>
              <a:rPr lang="en-US" b="1" dirty="0"/>
              <a:t>Medium    3–6 hours</a:t>
            </a:r>
          </a:p>
          <a:p>
            <a:r>
              <a:rPr lang="en-US" b="1" dirty="0"/>
              <a:t>High      6–9 hours</a:t>
            </a:r>
          </a:p>
          <a:p>
            <a:endParaRPr lang="en-US" b="1" dirty="0" smtClean="0"/>
          </a:p>
          <a:p>
            <a:endParaRPr lang="en-US" b="1" dirty="0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797301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Usage Level vs Sleep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87388" y="1619795"/>
            <a:ext cx="6870908" cy="4775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948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Usage Level vs Mental Health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8324" y="1685109"/>
            <a:ext cx="6814522" cy="473619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02846" y="2967335"/>
            <a:ext cx="479336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/>
              <a:t>Low usage       </a:t>
            </a:r>
            <a:r>
              <a:rPr lang="en-US" sz="1600" b="1" dirty="0" smtClean="0"/>
              <a:t>   → </a:t>
            </a:r>
            <a:r>
              <a:rPr lang="en-US" sz="1600" b="1" dirty="0"/>
              <a:t>Higher mental-health score</a:t>
            </a:r>
          </a:p>
          <a:p>
            <a:r>
              <a:rPr lang="en-US" sz="1600" b="1" dirty="0"/>
              <a:t>Medium usage   </a:t>
            </a:r>
            <a:r>
              <a:rPr lang="en-US" sz="1600" b="1" dirty="0" smtClean="0"/>
              <a:t>→ </a:t>
            </a:r>
            <a:r>
              <a:rPr lang="en-US" sz="1600" b="1" dirty="0"/>
              <a:t>Middle</a:t>
            </a:r>
          </a:p>
          <a:p>
            <a:r>
              <a:rPr lang="en-US" sz="1600" b="1" dirty="0"/>
              <a:t>High usage      → Lower mental-health score</a:t>
            </a:r>
          </a:p>
        </p:txBody>
      </p:sp>
    </p:spTree>
    <p:extLst>
      <p:ext uri="{BB962C8B-B14F-4D97-AF65-F5344CB8AC3E}">
        <p14:creationId xmlns:p14="http://schemas.microsoft.com/office/powerpoint/2010/main" val="2777086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Overall Impact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21339014"/>
              </p:ext>
            </p:extLst>
          </p:nvPr>
        </p:nvGraphicFramePr>
        <p:xfrm>
          <a:off x="1881050" y="2415993"/>
          <a:ext cx="8343402" cy="146304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781134">
                  <a:extLst>
                    <a:ext uri="{9D8B030D-6E8A-4147-A177-3AD203B41FA5}">
                      <a16:colId xmlns:a16="http://schemas.microsoft.com/office/drawing/2014/main" val="1190779738"/>
                    </a:ext>
                  </a:extLst>
                </a:gridCol>
                <a:gridCol w="2781134">
                  <a:extLst>
                    <a:ext uri="{9D8B030D-6E8A-4147-A177-3AD203B41FA5}">
                      <a16:colId xmlns:a16="http://schemas.microsoft.com/office/drawing/2014/main" val="3024860103"/>
                    </a:ext>
                  </a:extLst>
                </a:gridCol>
                <a:gridCol w="2781134">
                  <a:extLst>
                    <a:ext uri="{9D8B030D-6E8A-4147-A177-3AD203B41FA5}">
                      <a16:colId xmlns:a16="http://schemas.microsoft.com/office/drawing/2014/main" val="3163323906"/>
                    </a:ext>
                  </a:extLst>
                </a:gridCol>
              </a:tblGrid>
              <a:tr h="209641">
                <a:tc>
                  <a:txBody>
                    <a:bodyPr/>
                    <a:lstStyle/>
                    <a:p>
                      <a:r>
                        <a:rPr lang="en-US" dirty="0"/>
                        <a:t>Overall Impact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Usage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Mental Health</a:t>
                      </a:r>
                      <a:endParaRPr 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825308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Positive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3.26 </a:t>
                      </a:r>
                      <a:r>
                        <a:rPr lang="en-US" dirty="0" err="1"/>
                        <a:t>hrs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7.75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256692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Neutral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4.63 hrs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6.60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14814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Negative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6.22 </a:t>
                      </a:r>
                      <a:r>
                        <a:rPr lang="en-US" dirty="0" err="1"/>
                        <a:t>hrs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5.29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57740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1918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Key Insights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2589212" y="2252697"/>
            <a:ext cx="6832704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1. Usage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Average daily social-media usage ≈ 5.1 hours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2. Sleep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Higher usage is associated with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fewer sleep hours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3. Mental Health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Usage and mental health show a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strong negative correlation (-0.83)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4. Academic Performance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 academic-impact “Yes” group has higher average usage (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5.81 vs 4.07 hours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5. Overall Impact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 negative-impact group has higher usage and lower mental-health scores</a:t>
            </a:r>
          </a:p>
        </p:txBody>
      </p:sp>
    </p:spTree>
    <p:extLst>
      <p:ext uri="{BB962C8B-B14F-4D97-AF65-F5344CB8AC3E}">
        <p14:creationId xmlns:p14="http://schemas.microsoft.com/office/powerpoint/2010/main" val="846922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Limitations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2592925" y="1905000"/>
            <a:ext cx="3416256" cy="35702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Dataset is social media, not AI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No GPA/actual grades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No addiction score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No AI usage variables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No date/time variable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Correlation does not prove causation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Findings describe this dataset </a:t>
            </a:r>
          </a:p>
        </p:txBody>
      </p:sp>
    </p:spTree>
    <p:extLst>
      <p:ext uri="{BB962C8B-B14F-4D97-AF65-F5344CB8AC3E}">
        <p14:creationId xmlns:p14="http://schemas.microsoft.com/office/powerpoint/2010/main" val="3951404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Higher social-media usage is associated with</a:t>
            </a:r>
            <a:r>
              <a:rPr lang="en-US" b="1" dirty="0" smtClean="0"/>
              <a:t>:</a:t>
            </a:r>
          </a:p>
          <a:p>
            <a:endParaRPr lang="en-US" b="1" dirty="0"/>
          </a:p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↓ Sleep</a:t>
            </a:r>
            <a:b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↓ Mental-health score</a:t>
            </a:r>
            <a:b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↑ Reported academic-performance impact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152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          </a:t>
            </a:r>
            <a:r>
              <a:rPr lang="en-US" b="1" dirty="0" smtClean="0"/>
              <a:t>THANK YOU!</a:t>
            </a: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388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672</TotalTime>
  <Words>322</Words>
  <Application>Microsoft Office PowerPoint</Application>
  <PresentationFormat>Widescreen</PresentationFormat>
  <Paragraphs>98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Yu Gothic UI</vt:lpstr>
      <vt:lpstr>Arial</vt:lpstr>
      <vt:lpstr>Calibri</vt:lpstr>
      <vt:lpstr>Century Gothic</vt:lpstr>
      <vt:lpstr>Wingdings 3</vt:lpstr>
      <vt:lpstr>Wisp</vt:lpstr>
      <vt:lpstr>Social Media Impact on Students</vt:lpstr>
      <vt:lpstr>Objective &amp; Research Question</vt:lpstr>
      <vt:lpstr>Dataset Overview</vt:lpstr>
      <vt:lpstr>Data Quality</vt:lpstr>
      <vt:lpstr>Univariate Analysis</vt:lpstr>
      <vt:lpstr>Bivariate Analysis</vt:lpstr>
      <vt:lpstr>Academic Performance</vt:lpstr>
      <vt:lpstr>Correlation Analysis</vt:lpstr>
      <vt:lpstr>Usage Levels</vt:lpstr>
      <vt:lpstr>Usage Level vs Sleep</vt:lpstr>
      <vt:lpstr>Usage Level vs Mental Health</vt:lpstr>
      <vt:lpstr>Overall Impact</vt:lpstr>
      <vt:lpstr>Key Insights</vt:lpstr>
      <vt:lpstr>Limitations</vt:lpstr>
      <vt:lpstr>Conclusion</vt:lpstr>
      <vt:lpstr>              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Social Media Impact on Students</dc:title>
  <dc:creator>hp</dc:creator>
  <cp:lastModifiedBy>hp</cp:lastModifiedBy>
  <cp:revision>17</cp:revision>
  <dcterms:created xsi:type="dcterms:W3CDTF">2026-09-21T12:24:08Z</dcterms:created>
  <dcterms:modified xsi:type="dcterms:W3CDTF">2026-09-22T16:26:25Z</dcterms:modified>
</cp:coreProperties>
</file>